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5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5.png"/><Relationship Id="rId10" Type="http://schemas.openxmlformats.org/officeDocument/2006/relationships/image" Target="../media/image80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5.png"/><Relationship Id="rId10" Type="http://schemas.openxmlformats.org/officeDocument/2006/relationships/image" Target="../media/image87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23241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40473"/>
            <a:ext cx="259080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4740473"/>
            <a:ext cx="2914650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58475" y="538162"/>
            <a:ext cx="962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SBiZ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26877"/>
            <a:ext cx="9001125" cy="1731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0" i="0" u="none" dirty="0" err="1">
                <a:solidFill>
                  <a:srgbClr val="0F172A"/>
                </a:solidFill>
                <a:latin typeface="Plus Jakarta Sans ExtraBold"/>
              </a:rPr>
              <a:t>SBiZ</a:t>
            </a:r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 </a:t>
            </a:r>
            <a:r>
              <a:rPr lang="en-US" sz="3900" b="0" i="0" u="none" dirty="0">
                <a:solidFill>
                  <a:srgbClr val="0F172A"/>
                </a:solidFill>
                <a:latin typeface="Plus Jakarta Sans ExtraBold"/>
              </a:rPr>
              <a:t>Asset </a:t>
            </a:r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Inventory </a:t>
            </a:r>
            <a:r>
              <a:rPr dirty="0"/>
              <a:t>
</a:t>
            </a:r>
            <a:r>
              <a:rPr sz="3900" b="0" i="0" u="none" dirty="0">
                <a:solidFill>
                  <a:srgbClr val="0EA5E9"/>
                </a:solidFill>
                <a:latin typeface="Plus Jakarta Sans ExtraBold"/>
              </a:rPr>
              <a:t>Satu </a:t>
            </a:r>
            <a:r>
              <a:rPr sz="3900" b="0" i="0" u="none" dirty="0" err="1">
                <a:solidFill>
                  <a:srgbClr val="0EA5E9"/>
                </a:solidFill>
                <a:latin typeface="Plus Jakarta Sans ExtraBold"/>
              </a:rPr>
              <a:t>Sistem</a:t>
            </a:r>
            <a:r>
              <a:rPr sz="3900" b="0" i="0" u="none" dirty="0">
                <a:solidFill>
                  <a:srgbClr val="0EA5E9"/>
                </a:solidFill>
                <a:latin typeface="Plus Jakarta Sans ExtraBold"/>
              </a:rPr>
              <a:t> </a:t>
            </a:r>
            <a:r>
              <a:rPr sz="3900" b="0" i="0" u="none" dirty="0" err="1">
                <a:solidFill>
                  <a:srgbClr val="0EA5E9"/>
                </a:solidFill>
                <a:latin typeface="Plus Jakarta Sans ExtraBold"/>
              </a:rPr>
              <a:t>Terintegrasi</a:t>
            </a:r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 </a:t>
            </a:r>
            <a:r>
              <a:rPr sz="3900" b="0" i="0" u="none" dirty="0" err="1">
                <a:solidFill>
                  <a:srgbClr val="0F172A"/>
                </a:solidFill>
                <a:latin typeface="Plus Jakarta Sans ExtraBold"/>
              </a:rPr>
              <a:t>untuk</a:t>
            </a:r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 </a:t>
            </a:r>
            <a:r>
              <a:rPr sz="3900" b="0" i="0" u="none" dirty="0" err="1">
                <a:solidFill>
                  <a:srgbClr val="0F172A"/>
                </a:solidFill>
                <a:latin typeface="Plus Jakarta Sans ExtraBold"/>
              </a:rPr>
              <a:t>Inventaris</a:t>
            </a:r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 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826073"/>
            <a:ext cx="7429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Kelola keberadaan, riwayat pemeliharaan, serta depresiasi aset secara akurat, terstruktur, dan real-time dalam satu platform intuitif.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138863"/>
            <a:ext cx="156210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sz="975" b="1" i="0" u="none" dirty="0">
                <a:solidFill>
                  <a:srgbClr val="0EA5E9"/>
                </a:solidFill>
                <a:latin typeface="Inter"/>
              </a:rPr>
              <a:t> </a:t>
            </a:r>
            <a:r>
              <a:rPr lang="en-US" sz="975" b="1" i="0" u="none" dirty="0">
                <a:solidFill>
                  <a:srgbClr val="0EA5E9"/>
                </a:solidFill>
                <a:latin typeface="Inter"/>
              </a:rPr>
              <a:t>ASSET </a:t>
            </a:r>
            <a:r>
              <a:rPr sz="975" b="1" i="0" u="none" dirty="0">
                <a:solidFill>
                  <a:srgbClr val="0EA5E9"/>
                </a:solidFill>
                <a:latin typeface="Inter"/>
              </a:rPr>
              <a:t>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4425" y="6229350"/>
            <a:ext cx="2886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Solusi Manajemen Aset Organisasi &amp; Perusahaan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557212"/>
            <a:ext cx="1428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873823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1400" y="4873823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5" y="523875"/>
            <a:ext cx="11334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88964"/>
            <a:ext cx="3530500" cy="27943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188964"/>
            <a:ext cx="3530649" cy="27943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188964"/>
            <a:ext cx="3530500" cy="27943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436554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Realitas &amp; Masalah Lapangan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224632"/>
            <a:ext cx="1398814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2575" y="6229350"/>
            <a:ext cx="2447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Hambatan Manajemen Aset Konvensional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9900" y="604837"/>
            <a:ext cx="1238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2493764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3179564"/>
            <a:ext cx="312695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Aset Gaib &amp; Hilang Jejak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93889"/>
            <a:ext cx="29780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Lokasi fisik aset sering tidak diketahui, nomor seri tidak tercatat dengan rapi, dan penanggung jawab aset tidak terdeteksi secara pasti.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825" y="2493764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6825" y="3179564"/>
            <a:ext cx="312710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Riwayat Perbaikan Kerap Raib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825" y="3493889"/>
            <a:ext cx="29781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Tidak ada catatan riwayat pemeliharaan fisik. Biaya serviks membengkak tanpa histori kerusakan dan kondisi aktual aset.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075" y="2493764"/>
            <a:ext cx="495300" cy="495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075" y="3179564"/>
            <a:ext cx="312695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Kalkulasi Nilai &amp; Depresiasi Lambat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075" y="3732014"/>
            <a:ext cx="29780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Menghitung nilai buku aset dan depresiasi secara manual di Excel membutuhkan waktu lama dan rawan terjadi human error.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2636639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49700" y="2636639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2762" y="2636639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325" y="523875"/>
            <a:ext cx="17811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776412"/>
            <a:ext cx="53340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444555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Solusi Terpadu SBiZ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99" y="6148432"/>
            <a:ext cx="1387929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5950" y="6229350"/>
            <a:ext cx="2114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Pengelolaan Aset Terpusat &amp; Akurat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200" y="604837"/>
            <a:ext cx="95250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798290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 Medium"/>
              </a:rPr>
              <a:t>SBiZ Inventory mengubah pengelolaan aset manual menjadi ekosistem digital yang transparan, terintegrasi, dan mudah diakses.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59285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Pusat Informasi &amp; Kartu Aset Digital: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Lacak detail aset, lokasi, dan sumber dana secara otomatis dengan Nomor Seri unik.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7935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Search Engine Asset Publik: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Pencarian cepat status aset tanpa perlu login untuk verifikasi cepat di lapangan.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6585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Pencatatan Servis &amp; Perbaikan: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Riwayat pergantian sparepart dan perbaikan tercatat transparan per unit 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45235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Pelaporan Otomatis Real-time: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Rekapitulasi kondisi aset (Baik, Rusak, Setengah Baik) dan ekspor ke Excel sekali klik.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83098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11748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40398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9048"/>
            <a:ext cx="190500" cy="200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8FE689-52B6-8703-AFAD-D669E761FE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7637" y="1814071"/>
            <a:ext cx="5548613" cy="25466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23875"/>
            <a:ext cx="1333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95375"/>
            <a:ext cx="3530500" cy="25276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1095375"/>
            <a:ext cx="3530649" cy="25276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1095375"/>
            <a:ext cx="3530500" cy="25276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51671"/>
            <a:ext cx="3530500" cy="22839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600" y="3851671"/>
            <a:ext cx="3530649" cy="228391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9850" y="3851671"/>
            <a:ext cx="3530500" cy="228391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6135588"/>
            <a:ext cx="11049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453556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Ekosistem Fitur Unggulan SBiZ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499" y="6364186"/>
            <a:ext cx="1377043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6850" y="6287988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Fitur Lengkap Pengelolaan Aset Organisasi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875" y="604837"/>
            <a:ext cx="1428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1371600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7725" y="2057400"/>
            <a:ext cx="312695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Dashboard &amp; Analitik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371725"/>
            <a:ext cx="29780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Ringkasan eksekutif menampilkan nilai total aset, sebaran sumber dana, dan kondisi aset secara visual dan akurat.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6825" y="1371600"/>
            <a:ext cx="495300" cy="495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06825" y="2057400"/>
            <a:ext cx="312710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Modul Seri &amp;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6825" y="2371725"/>
            <a:ext cx="29781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Pemberian kode unik &amp; Nomor Seri pada setiap unit aset untuk mempermudah inventarisasi per departemen/ruangan.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66075" y="1371600"/>
            <a:ext cx="495300" cy="495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66075" y="2057400"/>
            <a:ext cx="312695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Manajemen Perbaikan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075" y="2371725"/>
            <a:ext cx="29780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Log pemeliharaan lengkap mencatat tanggal perbaikan, rincian teknis perbaikan, hingga biaya serviks terdeteksi.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4127896"/>
            <a:ext cx="495300" cy="495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7725" y="4813696"/>
            <a:ext cx="312695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Search Engine Publik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5128021"/>
            <a:ext cx="29780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Pusat pencarian cepat aset untuk umum / auditor internal cukup dengan menginput nomor seri tanpa harus login.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06825" y="4127896"/>
            <a:ext cx="495300" cy="495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6825" y="4813696"/>
            <a:ext cx="312710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Kalkulasi Depresiasi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6825" y="5128021"/>
            <a:ext cx="29781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Perhitungan nilai penyusutan aset per tahun secara otomatis sesuai harga beli dan nilai sisa minimum aset.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6075" y="4127896"/>
            <a:ext cx="495300" cy="495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366075" y="4813696"/>
            <a:ext cx="312695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Laporan &amp; Ekspor 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075" y="5128021"/>
            <a:ext cx="29780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Generasi laporan kondisi aset yang siap dicetak atau diunduh ke format Excel untuk kebutuhan audit akuntansi.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600" y="1514475"/>
            <a:ext cx="209550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63988" y="1514475"/>
            <a:ext cx="180975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08950" y="1514475"/>
            <a:ext cx="209550" cy="2095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0600" y="4270771"/>
            <a:ext cx="209550" cy="2095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73513" y="4270771"/>
            <a:ext cx="161925" cy="2095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32762" y="4270771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523875"/>
            <a:ext cx="17335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1933"/>
            <a:ext cx="2619375" cy="21389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611933"/>
            <a:ext cx="2619375" cy="21389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611933"/>
            <a:ext cx="2619375" cy="21389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611933"/>
            <a:ext cx="2619375" cy="213895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50058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850058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850058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0" y="2850058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496562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Alur Kerja &amp; Kontrol Akses Sistem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076950"/>
            <a:ext cx="149678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8675" y="6229350"/>
            <a:ext cx="3171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Manajemen Terstruktur Berdasarkan Peran Pengguna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9825" y="604837"/>
            <a:ext cx="142875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625" y="3345358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Pencarian Publik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659683"/>
            <a:ext cx="2143125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Mesin pencari independen untuk staf/publik memeriksa lokasi &amp; kondisi aset via Nomor Seri tanpa login.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345358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Kontrol Peran (Role)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3659683"/>
            <a:ext cx="2143125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Admin: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Akses penuh &amp; referensi.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Operator: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Input &amp; siklus aset.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Supervisor: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Pengawasan &amp; laporan.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345358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Siklus Hidup 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659683"/>
            <a:ext cx="2143125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Registrasi master aset, alokasi ruangan, mutasi aset, pemeliharaan/perbaikan, hingga lelang/penghapusan.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3345358"/>
            <a:ext cx="225028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Intelligence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0" y="3659683"/>
            <a:ext cx="2143125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Logging seluruh riwayat aktivitas aset &amp; penyajian laporan audit bisnis secara terpusat.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5075" y="523875"/>
            <a:ext cx="1495425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50568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Transparansi Riwayat Perbaikan 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99" y="6124575"/>
            <a:ext cx="1279071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8275" y="6229350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Rekam Jejak Pemeliharaan Aset Terpercaya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950" y="604837"/>
            <a:ext cx="95250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2146994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Audit Trail Pemeliharaan yang Jelas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461319"/>
            <a:ext cx="5334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Setiap tindakan perbaikan tercatat detail, mencegah kecurangan penggantian sparepart dan memastikan nilai aset terpelihara.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938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Histori Terikat pada Nomor Seri: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Cukup cari nomor seri, seluruh riwayat perbaikan lalu akan muncul.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803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Catatan Teknis Rinci: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Contoh pencatatan: </a:t>
            </a:r>
            <a:r>
              <a:rPr sz="1200" b="0" i="1" u="none">
                <a:solidFill>
                  <a:srgbClr val="334155"/>
                </a:solidFill>
                <a:latin typeface="Inter"/>
              </a:rPr>
              <a:t>"Mengganti Trafo yang terbakar dan 2 buah Transistor konslete"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9668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Pelacakan Tanggal &amp; Penanggung Jawab: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Mendokumentasikan kapan perbaikan dilakukan dan di mana lokasi pengerjaannya.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63192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91842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20492"/>
            <a:ext cx="171450" cy="200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D73479-3B8D-D0FC-9112-26A7CBDBC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6926" y="1613126"/>
            <a:ext cx="5160674" cy="39156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325" y="523875"/>
            <a:ext cx="14001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3297"/>
            <a:ext cx="5286375" cy="9977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8007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Laporan Nilai Aset &amp; Kondisi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99" y="6224632"/>
            <a:ext cx="1507671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4450" y="6229350"/>
            <a:ext cx="2686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Pengambilan Keputusan Berbasis Data Akurat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604837"/>
            <a:ext cx="14287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1" y="1371139"/>
            <a:ext cx="2721429" cy="702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0" i="0" u="none" dirty="0">
                <a:solidFill>
                  <a:srgbClr val="FFFFFF"/>
                </a:solidFill>
                <a:latin typeface="Plus Jakarta Sans ExtraBold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4543" y="1531441"/>
            <a:ext cx="295683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FFFFFF"/>
                </a:solidFill>
                <a:latin typeface="Inter Medium"/>
              </a:rPr>
              <a:t>Visibilitas</a:t>
            </a:r>
            <a:r>
              <a:rPr sz="1500" b="0" i="0" u="none" dirty="0">
                <a:solidFill>
                  <a:srgbClr val="FFFFFF"/>
                </a:solidFill>
                <a:latin typeface="Inter Medium"/>
              </a:rPr>
              <a:t> Nilai Aset &amp; </a:t>
            </a:r>
            <a:r>
              <a:rPr sz="1500" b="0" i="0" u="none" dirty="0" err="1">
                <a:solidFill>
                  <a:srgbClr val="FFFFFF"/>
                </a:solidFill>
                <a:latin typeface="Inter Medium"/>
              </a:rPr>
              <a:t>Depresiasi</a:t>
            </a:r>
            <a:endParaRPr sz="1500" b="0" i="0" u="none" dirty="0">
              <a:solidFill>
                <a:srgbClr val="FFFFFF"/>
              </a:solidFill>
              <a:latin typeface="Inter Medium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1858" y="2414629"/>
            <a:ext cx="555069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 err="1">
                <a:solidFill>
                  <a:srgbClr val="1E293B"/>
                </a:solidFill>
                <a:latin typeface="Plus Jakarta Sans SemiBold"/>
              </a:rPr>
              <a:t>Pelaporan</a:t>
            </a:r>
            <a:r>
              <a:rPr sz="1950" b="0" i="0" u="none" dirty="0">
                <a:solidFill>
                  <a:srgbClr val="1E293B"/>
                </a:solidFill>
                <a:latin typeface="Plus Jakarta Sans SemiBold"/>
              </a:rPr>
              <a:t> </a:t>
            </a:r>
            <a:r>
              <a:rPr sz="1950" b="0" i="0" u="none" dirty="0" err="1">
                <a:solidFill>
                  <a:srgbClr val="1E293B"/>
                </a:solidFill>
                <a:latin typeface="Plus Jakarta Sans SemiBold"/>
              </a:rPr>
              <a:t>Kondisi</a:t>
            </a:r>
            <a:r>
              <a:rPr sz="1950" b="0" i="0" u="none" dirty="0">
                <a:solidFill>
                  <a:srgbClr val="1E293B"/>
                </a:solidFill>
                <a:latin typeface="Plus Jakarta Sans SemiBold"/>
              </a:rPr>
              <a:t> </a:t>
            </a:r>
            <a:r>
              <a:rPr sz="1950" b="0" i="0" u="none" dirty="0" err="1">
                <a:solidFill>
                  <a:srgbClr val="1E293B"/>
                </a:solidFill>
                <a:latin typeface="Plus Jakarta Sans SemiBold"/>
              </a:rPr>
              <a:t>Seketika</a:t>
            </a:r>
            <a:endParaRPr sz="1950" b="0" i="0" u="none" dirty="0">
              <a:solidFill>
                <a:srgbClr val="1E293B"/>
              </a:solidFill>
              <a:latin typeface="Plus Jakarta Sans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34125" y="2828024"/>
            <a:ext cx="52863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SBiZ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Inventory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mengelompokkan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kondisi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aset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secara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instan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ke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dalam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kategori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: </a:t>
            </a:r>
            <a:r>
              <a:rPr sz="1275" b="1" i="0" u="none" dirty="0">
                <a:solidFill>
                  <a:srgbClr val="475569"/>
                </a:solidFill>
                <a:latin typeface="Inter"/>
              </a:rPr>
              <a:t>BAIK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275" b="1" i="0" u="none" dirty="0">
                <a:solidFill>
                  <a:srgbClr val="475569"/>
                </a:solidFill>
                <a:latin typeface="Inter"/>
              </a:rPr>
              <a:t>SETENGAH BAIK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, dan </a:t>
            </a:r>
            <a:r>
              <a:rPr sz="1275" b="1" i="0" u="none" dirty="0">
                <a:solidFill>
                  <a:srgbClr val="475569"/>
                </a:solidFill>
                <a:latin typeface="Inter"/>
              </a:rPr>
              <a:t>RUSAK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557434"/>
            <a:ext cx="4943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Inter"/>
              </a:rPr>
              <a:t>Grouping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otomatis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berdasarkan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sumber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dana (BOS, Owner,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Pribadi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SDB).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968948"/>
            <a:ext cx="49434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Fitur ekspor langsung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Print to Excel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&amp;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Print PDF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4368998"/>
            <a:ext cx="4943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Nilai penyusutan terhitung otomatis per tahun untuk akurasi laporan keuangan.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3581246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3992760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4392810"/>
            <a:ext cx="190500" cy="200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CA158E-0DF8-50A7-5B14-4CC0BF23CB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716" y="1333500"/>
            <a:ext cx="5550693" cy="4432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523875"/>
            <a:ext cx="19431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4100"/>
            <a:ext cx="1104900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49068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Mengapa Memilih SBiZ vs SaaS Lain?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99" y="6148432"/>
            <a:ext cx="1377043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0125" y="6229350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Keunggulan Mutlak untuk Efisiensi Jangka Panjang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275" y="604837"/>
            <a:ext cx="142875" cy="12382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1025" y="2333625"/>
          <a:ext cx="11029949" cy="2505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6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26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Kriteria Evaluasi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Keunggulan SBiZ Inventory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Software SaaS Pasaran Lain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2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Arsitektur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Private Server / Dedicated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Inter"/>
                        </a:rPr>
                        <a:t>Data 100% aman &amp; terpisah mutlak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Multi-tenant Server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Inter"/>
                        </a:rPr>
                        <a:t>Data bergabung dengan ribuan pengguna lain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26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Skalabilitas Biaya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Unlimited User &amp; Transaksi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Inter"/>
                        </a:rPr>
                        <a:t>Bebas tambah staf/gudang tanpa biaya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Bayar Per User / Per Transaksi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Inter"/>
                        </a:rPr>
                        <a:t>Biaya membengkak saat organisasi tumbuh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27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Dukungan &amp; Pelatihan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Full Dampingan &amp; Support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Inter"/>
                        </a:rPr>
                        <a:t>Bantuan migrasi Excel &amp; pelatihan staf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Support Tiket / Bot Terbatas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Inter"/>
                        </a:rPr>
                        <a:t>Pelatihan mahal dan respons lambat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1025" y="34813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8512" y="3481387"/>
            <a:ext cx="413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74743" y="3481387"/>
            <a:ext cx="413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1576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8512" y="4157662"/>
            <a:ext cx="413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74743" y="4157662"/>
            <a:ext cx="41362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0553" y="3094944"/>
            <a:ext cx="1752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0312" y="3057525"/>
            <a:ext cx="13620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0553" y="3614737"/>
            <a:ext cx="1781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0712" y="3643312"/>
            <a:ext cx="197167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0553" y="4256314"/>
            <a:ext cx="17145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2858" y="4224337"/>
            <a:ext cx="18669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525" y="523875"/>
            <a:ext cx="17049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14562"/>
            <a:ext cx="5334000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442055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Investasi Hemat &amp; Terjangkau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99" y="6148432"/>
            <a:ext cx="1311729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34475" y="6229350"/>
            <a:ext cx="2486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Investasi Terbaik Menjaga Aset Organisasi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604837"/>
            <a:ext cx="10477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2595562"/>
            <a:ext cx="457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MANAGED CLOUD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852737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0" i="0" u="none">
                <a:solidFill>
                  <a:srgbClr val="FFFFFF"/>
                </a:solidFill>
                <a:latin typeface="Inter ExtraBold"/>
              </a:rPr>
              <a:t>Rp 16.000 </a:t>
            </a:r>
            <a:r>
              <a:rPr sz="3600" b="0" i="0" u="none">
                <a:solidFill>
                  <a:srgbClr val="94A3B8"/>
                </a:solidFill>
                <a:latin typeface="Inter"/>
              </a:rPr>
              <a:t>/ Hari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405187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(Rp 6.000.000 / Tahun)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3871912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2500" y="411956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Solusi all-in-one tanpa perlu memikirkan infrastruktur dan pemeliharaan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2138362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Apa Saja Yang Anda Dapatkan?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19362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Private Dedicated Cloud Server: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Akses cepat, aman, dan tanpa hambatan.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48012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Maintenance &amp; System Updates: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Pemeliharaan rutin server dan aplikasi.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76662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Unlimited User &amp; Data Capacity: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Tambah pengguna sepuasnya tanpa biaya tambahan.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05312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Pelatihan Tim Operasional: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Pendampingan langsung hingga tim Anda mahir.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543175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171825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3800475"/>
            <a:ext cx="23812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429125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523875"/>
            <a:ext cx="14097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76412"/>
            <a:ext cx="53340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69071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Infrastruktur Server &amp; Keamanan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229350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EA5E9"/>
                </a:solidFill>
                <a:latin typeface="Inter"/>
              </a:rPr>
              <a:t>SBiZ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9675" y="6229350"/>
            <a:ext cx="2790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Keamanan Tingkat Tinggi untuk Data Aset Anda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675" y="604837"/>
            <a:ext cx="10477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6500" y="2146994"/>
            <a:ext cx="5600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lus Jakarta Sans SemiBold"/>
              </a:rPr>
              <a:t>Perlindungan Maksimal Aset Perusahaan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61319"/>
            <a:ext cx="5334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Aset adalah informasi rahasia bisnis Anda. SBiZ memastikan tidak ada kebocoran data dengan sistem server khusus.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1785937"/>
            <a:ext cx="531495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400" y="313938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Isolasi Data Mutlak: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Server terpisah menghindarkan risiko data tercampur dengan organisasi 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6803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Automated Backup: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Cadangan data rutin untuk keamanan jika terjadi gangguan infrastruktur.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96680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Hak Akses Terenkripsi: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Password dan kredensial pengguna dilindungi dengan enkripsi standar industri.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163192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3791842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420492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981700"/>
            <a:ext cx="51435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571500"/>
            <a:ext cx="18097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249685"/>
            <a:ext cx="5143500" cy="1123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1000125"/>
            <a:ext cx="5400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Uji Coba Langsung Aplikasi SBiZ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524000"/>
            <a:ext cx="51435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Rasakan kemudahan pengoperasian antarmuka SBiZ Asset secara langsung melalui portal demo resmi kami.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49" y="6053182"/>
            <a:ext cx="1457473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134100"/>
            <a:ext cx="1047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Akses Demo 24/7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652462"/>
            <a:ext cx="152400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275" y="2449710"/>
            <a:ext cx="4743450" cy="1619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Link Portal Demo: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687835"/>
            <a:ext cx="4743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monospace"/>
              </a:rPr>
              <a:t>https://sbiz-app.my.id/inv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2468760"/>
            <a:ext cx="17145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" y="3011685"/>
            <a:ext cx="125744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Username: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4223" y="3011685"/>
            <a:ext cx="116785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Password: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1234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AA8BB3-4A49-37E2-1D33-5BC7A1FD1D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2" y="323340"/>
            <a:ext cx="4335234" cy="61439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4287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387" y="4402335"/>
            <a:ext cx="2943225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76950"/>
            <a:ext cx="11049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58475" y="538162"/>
            <a:ext cx="962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 SemiBold"/>
              </a:rPr>
              <a:t>SBiZ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5468" y="2169914"/>
            <a:ext cx="850106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0" i="0" u="none">
                <a:solidFill>
                  <a:srgbClr val="FFFFFF"/>
                </a:solidFill>
                <a:latin typeface="Plus Jakarta Sans ExtraBold"/>
              </a:rPr>
              <a:t>Amankan &amp; Optimalkan Aset Organisasi Anda Hari 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411735"/>
            <a:ext cx="8096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Jangan biarkan aset berharga hilang atau rusak tanpa terdeteksi. Hubungi tim kami untuk konsultasi kebutuhan dan demonstrasi sistem khusus untuk perusahaan Anda.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229350"/>
            <a:ext cx="142875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75" b="1" dirty="0" err="1">
                <a:solidFill>
                  <a:srgbClr val="0EA5E9"/>
                </a:solidFill>
                <a:latin typeface="Inter"/>
              </a:rPr>
              <a:t>SBiZ</a:t>
            </a:r>
            <a:r>
              <a:rPr lang="en-US" sz="975" b="1" dirty="0">
                <a:solidFill>
                  <a:srgbClr val="0EA5E9"/>
                </a:solidFill>
                <a:latin typeface="Inter"/>
              </a:rPr>
              <a:t> ASSET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0" y="6229350"/>
            <a:ext cx="2667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Investasi Cerdas Manajemen Aset Organisasi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55721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7287" y="4569023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984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Inter</vt:lpstr>
      <vt:lpstr>Inter ExtraBold</vt:lpstr>
      <vt:lpstr>Inter Medium</vt:lpstr>
      <vt:lpstr>Inter SemiBold</vt:lpstr>
      <vt:lpstr>monospace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PT Praisindo Teknologi</cp:lastModifiedBy>
  <cp:revision>17</cp:revision>
  <dcterms:created xsi:type="dcterms:W3CDTF">2013-01-27T09:14:16Z</dcterms:created>
  <dcterms:modified xsi:type="dcterms:W3CDTF">2026-09-14T07:08:36Z</dcterms:modified>
  <cp:category/>
</cp:coreProperties>
</file>